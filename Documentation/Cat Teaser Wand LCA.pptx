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Canva Sans" panose="020B0604020202020204" charset="0"/>
      <p:regular r:id="rId5"/>
    </p:embeddedFont>
    <p:embeddedFont>
      <p:font typeface="Canva Sans Bold" panose="020B0604020202020204" charset="0"/>
      <p:regular r:id="rId6"/>
    </p:embeddedFont>
    <p:embeddedFont>
      <p:font typeface="Raleway" pitchFamily="2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320436">
            <a:off x="-4605324" y="4677674"/>
            <a:ext cx="10268190" cy="931653"/>
            <a:chOff x="0" y="0"/>
            <a:chExt cx="2239564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743"/>
              <a:ext cx="2239564" cy="201713"/>
            </a:xfrm>
            <a:custGeom>
              <a:avLst/>
              <a:gdLst/>
              <a:ahLst/>
              <a:cxnLst/>
              <a:rect l="l" t="t" r="r" b="b"/>
              <a:pathLst>
                <a:path w="2239564" h="201713">
                  <a:moveTo>
                    <a:pt x="1128233" y="38627"/>
                  </a:moveTo>
                  <a:cubicBezTo>
                    <a:pt x="1504311" y="5607"/>
                    <a:pt x="1871937" y="-27413"/>
                    <a:pt x="2239564" y="36087"/>
                  </a:cubicBezTo>
                  <a:lnTo>
                    <a:pt x="2239564" y="156737"/>
                  </a:lnTo>
                  <a:cubicBezTo>
                    <a:pt x="1859261" y="95777"/>
                    <a:pt x="1478957" y="130067"/>
                    <a:pt x="1111331" y="163087"/>
                  </a:cubicBezTo>
                  <a:cubicBezTo>
                    <a:pt x="735253" y="196107"/>
                    <a:pt x="367627" y="229127"/>
                    <a:pt x="0" y="165627"/>
                  </a:cubicBezTo>
                  <a:lnTo>
                    <a:pt x="0" y="44977"/>
                  </a:lnTo>
                  <a:cubicBezTo>
                    <a:pt x="380303" y="105937"/>
                    <a:pt x="760607" y="71647"/>
                    <a:pt x="1128233" y="38627"/>
                  </a:cubicBez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700"/>
              <a:ext cx="2239564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4473" y="2713841"/>
            <a:ext cx="7315200" cy="3886200"/>
          </a:xfrm>
          <a:custGeom>
            <a:avLst/>
            <a:gdLst/>
            <a:ahLst/>
            <a:cxnLst/>
            <a:rect l="l" t="t" r="r" b="b"/>
            <a:pathLst>
              <a:path w="7315200" h="3886200">
                <a:moveTo>
                  <a:pt x="0" y="0"/>
                </a:moveTo>
                <a:lnTo>
                  <a:pt x="7315200" y="0"/>
                </a:lnTo>
                <a:lnTo>
                  <a:pt x="7315200" y="3886200"/>
                </a:lnTo>
                <a:lnTo>
                  <a:pt x="0" y="388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04473" y="5584123"/>
            <a:ext cx="7315200" cy="3886200"/>
          </a:xfrm>
          <a:custGeom>
            <a:avLst/>
            <a:gdLst/>
            <a:ahLst/>
            <a:cxnLst/>
            <a:rect l="l" t="t" r="r" b="b"/>
            <a:pathLst>
              <a:path w="7315200" h="3886200">
                <a:moveTo>
                  <a:pt x="0" y="0"/>
                </a:moveTo>
                <a:lnTo>
                  <a:pt x="7315200" y="0"/>
                </a:lnTo>
                <a:lnTo>
                  <a:pt x="7315200" y="3886200"/>
                </a:lnTo>
                <a:lnTo>
                  <a:pt x="0" y="388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-103368" y="3574707"/>
            <a:ext cx="8105279" cy="61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Wand (Handle)</a:t>
            </a:r>
          </a:p>
        </p:txBody>
      </p:sp>
      <p:sp>
        <p:nvSpPr>
          <p:cNvPr id="8" name="AutoShape 8"/>
          <p:cNvSpPr/>
          <p:nvPr/>
        </p:nvSpPr>
        <p:spPr>
          <a:xfrm flipH="1">
            <a:off x="1795932" y="3382931"/>
            <a:ext cx="19050" cy="2535922"/>
          </a:xfrm>
          <a:prstGeom prst="line">
            <a:avLst/>
          </a:prstGeom>
          <a:ln w="114300" cap="flat">
            <a:solidFill>
              <a:srgbClr val="38B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H="1">
            <a:off x="1795932" y="6272137"/>
            <a:ext cx="19050" cy="2535922"/>
          </a:xfrm>
          <a:prstGeom prst="line">
            <a:avLst/>
          </a:prstGeom>
          <a:ln w="114300" cap="flat">
            <a:solidFill>
              <a:srgbClr val="10BB8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92010" y="2481550"/>
            <a:ext cx="6017349" cy="3819162"/>
          </a:xfrm>
          <a:custGeom>
            <a:avLst/>
            <a:gdLst/>
            <a:ahLst/>
            <a:cxnLst/>
            <a:rect l="l" t="t" r="r" b="b"/>
            <a:pathLst>
              <a:path w="6017349" h="3819162">
                <a:moveTo>
                  <a:pt x="0" y="0"/>
                </a:moveTo>
                <a:lnTo>
                  <a:pt x="6017349" y="0"/>
                </a:lnTo>
                <a:lnTo>
                  <a:pt x="6017349" y="3819162"/>
                </a:lnTo>
                <a:lnTo>
                  <a:pt x="0" y="3819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76" r="-3534" b="-9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409083" y="6544457"/>
            <a:ext cx="5900276" cy="3558437"/>
          </a:xfrm>
          <a:custGeom>
            <a:avLst/>
            <a:gdLst/>
            <a:ahLst/>
            <a:cxnLst/>
            <a:rect l="l" t="t" r="r" b="b"/>
            <a:pathLst>
              <a:path w="5900276" h="3558437">
                <a:moveTo>
                  <a:pt x="0" y="0"/>
                </a:moveTo>
                <a:lnTo>
                  <a:pt x="5900276" y="0"/>
                </a:lnTo>
                <a:lnTo>
                  <a:pt x="5900276" y="3558436"/>
                </a:lnTo>
                <a:lnTo>
                  <a:pt x="0" y="35584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815" b="-18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743200" y="178753"/>
            <a:ext cx="13411200" cy="1368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 Teaser Wand LCA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76600" y="1461444"/>
            <a:ext cx="10387713" cy="591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rgbClr val="38B6FF"/>
                </a:solidFill>
                <a:latin typeface="Raleway"/>
                <a:ea typeface="Raleway"/>
                <a:cs typeface="Raleway"/>
                <a:sym typeface="Raleway"/>
              </a:rPr>
              <a:t>Eco-Optimized Materials &amp; Process Selection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9360" y="2193148"/>
            <a:ext cx="9144000" cy="93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Materials Selection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33880" y="4273841"/>
            <a:ext cx="3587055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ABS Plastic • 0.05 kg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96.8% energy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419540" y="6496832"/>
            <a:ext cx="8105279" cy="61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10BB8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 (Eco)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33880" y="7195966"/>
            <a:ext cx="4896743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Hemp Fiber • 0.015 kg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Biodegradable, 3.2% energy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8213" y="8922788"/>
            <a:ext cx="8193670" cy="1623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Decision:</a:t>
            </a:r>
            <a:r>
              <a:rPr lang="en-US" sz="2200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 Replaced Nylon (90% downcycle) with Hemp fiber for string component to minimize end-of-life impact while maintaining functionality and cost objectives.</a:t>
            </a:r>
          </a:p>
          <a:p>
            <a:pPr algn="l">
              <a:lnSpc>
                <a:spcPts val="3780"/>
              </a:lnSpc>
            </a:pPr>
            <a:endParaRPr lang="en-US" sz="2200">
              <a:solidFill>
                <a:srgbClr val="38B6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5485" y="600392"/>
            <a:ext cx="2515195" cy="80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3"/>
              </a:lnSpc>
            </a:pPr>
            <a:r>
              <a:rPr lang="en-US" sz="23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Stephen Hussaini</a:t>
            </a:r>
          </a:p>
          <a:p>
            <a:pPr algn="ctr">
              <a:lnSpc>
                <a:spcPts val="3253"/>
              </a:lnSpc>
            </a:pPr>
            <a:r>
              <a:rPr lang="en-US" sz="23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24813722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320436">
            <a:off x="-4605324" y="4677674"/>
            <a:ext cx="10268190" cy="931653"/>
            <a:chOff x="0" y="0"/>
            <a:chExt cx="2239564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743"/>
              <a:ext cx="2239564" cy="201713"/>
            </a:xfrm>
            <a:custGeom>
              <a:avLst/>
              <a:gdLst/>
              <a:ahLst/>
              <a:cxnLst/>
              <a:rect l="l" t="t" r="r" b="b"/>
              <a:pathLst>
                <a:path w="2239564" h="201713">
                  <a:moveTo>
                    <a:pt x="1128233" y="38627"/>
                  </a:moveTo>
                  <a:cubicBezTo>
                    <a:pt x="1504311" y="5607"/>
                    <a:pt x="1871937" y="-27413"/>
                    <a:pt x="2239564" y="36087"/>
                  </a:cubicBezTo>
                  <a:lnTo>
                    <a:pt x="2239564" y="156737"/>
                  </a:lnTo>
                  <a:cubicBezTo>
                    <a:pt x="1859261" y="95777"/>
                    <a:pt x="1478957" y="130067"/>
                    <a:pt x="1111331" y="163087"/>
                  </a:cubicBezTo>
                  <a:cubicBezTo>
                    <a:pt x="735253" y="196107"/>
                    <a:pt x="367627" y="229127"/>
                    <a:pt x="0" y="165627"/>
                  </a:cubicBezTo>
                  <a:lnTo>
                    <a:pt x="0" y="44977"/>
                  </a:lnTo>
                  <a:cubicBezTo>
                    <a:pt x="380303" y="105937"/>
                    <a:pt x="760607" y="71647"/>
                    <a:pt x="1128233" y="38627"/>
                  </a:cubicBez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700"/>
              <a:ext cx="2239564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8771" y="1085850"/>
            <a:ext cx="9630142" cy="7126305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10720975" y="1777886"/>
            <a:ext cx="7186845" cy="4303713"/>
          </a:xfrm>
          <a:custGeom>
            <a:avLst/>
            <a:gdLst/>
            <a:ahLst/>
            <a:cxnLst/>
            <a:rect l="l" t="t" r="r" b="b"/>
            <a:pathLst>
              <a:path w="7186845" h="4303713">
                <a:moveTo>
                  <a:pt x="0" y="0"/>
                </a:moveTo>
                <a:lnTo>
                  <a:pt x="7186846" y="0"/>
                </a:lnTo>
                <a:lnTo>
                  <a:pt x="7186846" y="4303713"/>
                </a:lnTo>
                <a:lnTo>
                  <a:pt x="0" y="43037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67" b="-3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8700" y="8014129"/>
            <a:ext cx="10191543" cy="2114745"/>
          </a:xfrm>
          <a:custGeom>
            <a:avLst/>
            <a:gdLst/>
            <a:ahLst/>
            <a:cxnLst/>
            <a:rect l="l" t="t" r="r" b="b"/>
            <a:pathLst>
              <a:path w="10191543" h="2114745">
                <a:moveTo>
                  <a:pt x="0" y="0"/>
                </a:moveTo>
                <a:lnTo>
                  <a:pt x="10191543" y="0"/>
                </a:lnTo>
                <a:lnTo>
                  <a:pt x="10191543" y="2114745"/>
                </a:lnTo>
                <a:lnTo>
                  <a:pt x="0" y="2114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rnd">
            <a:noFill/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1228298" y="6756927"/>
            <a:ext cx="6679523" cy="3124749"/>
            <a:chOff x="0" y="0"/>
            <a:chExt cx="1759216" cy="822979"/>
          </a:xfrm>
        </p:grpSpPr>
        <p:sp>
          <p:nvSpPr>
            <p:cNvPr id="9" name="Freeform 9"/>
            <p:cNvSpPr/>
            <p:nvPr/>
          </p:nvSpPr>
          <p:spPr>
            <a:xfrm>
              <a:off x="15836" y="0"/>
              <a:ext cx="1727544" cy="822979"/>
            </a:xfrm>
            <a:custGeom>
              <a:avLst/>
              <a:gdLst/>
              <a:ahLst/>
              <a:cxnLst/>
              <a:rect l="l" t="t" r="r" b="b"/>
              <a:pathLst>
                <a:path w="1727544" h="822979">
                  <a:moveTo>
                    <a:pt x="1467160" y="0"/>
                  </a:moveTo>
                  <a:lnTo>
                    <a:pt x="57184" y="0"/>
                  </a:lnTo>
                  <a:cubicBezTo>
                    <a:pt x="39605" y="0"/>
                    <a:pt x="23002" y="8086"/>
                    <a:pt x="12163" y="21927"/>
                  </a:cubicBezTo>
                  <a:cubicBezTo>
                    <a:pt x="1324" y="35767"/>
                    <a:pt x="-2546" y="53824"/>
                    <a:pt x="1668" y="70891"/>
                  </a:cubicBezTo>
                  <a:lnTo>
                    <a:pt x="169860" y="752088"/>
                  </a:lnTo>
                  <a:cubicBezTo>
                    <a:pt x="180141" y="793725"/>
                    <a:pt x="217497" y="822979"/>
                    <a:pt x="260384" y="822979"/>
                  </a:cubicBezTo>
                  <a:lnTo>
                    <a:pt x="1670360" y="822979"/>
                  </a:lnTo>
                  <a:cubicBezTo>
                    <a:pt x="1687939" y="822979"/>
                    <a:pt x="1704542" y="814893"/>
                    <a:pt x="1715381" y="801053"/>
                  </a:cubicBezTo>
                  <a:cubicBezTo>
                    <a:pt x="1726220" y="787212"/>
                    <a:pt x="1730090" y="769155"/>
                    <a:pt x="1725876" y="752088"/>
                  </a:cubicBezTo>
                  <a:lnTo>
                    <a:pt x="1557684" y="70891"/>
                  </a:lnTo>
                  <a:cubicBezTo>
                    <a:pt x="1547403" y="29255"/>
                    <a:pt x="1510047" y="0"/>
                    <a:pt x="1467160" y="0"/>
                  </a:cubicBezTo>
                  <a:close/>
                </a:path>
              </a:pathLst>
            </a:custGeom>
            <a:solidFill>
              <a:srgbClr val="C7FAE9">
                <a:alpha val="40784"/>
              </a:srgbClr>
            </a:solidFill>
            <a:ln w="19050" cap="rnd">
              <a:solidFill>
                <a:srgbClr val="10BB82">
                  <a:alpha val="40784"/>
                </a:srgbClr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1556016" cy="861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048000" y="-52707"/>
            <a:ext cx="11726317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Selection: Hemp String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79558" y="1028700"/>
            <a:ext cx="5507242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Constraints Met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2361" y="2244725"/>
            <a:ext cx="8227245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•Function: Flexible cord connecting teaser to wand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•Sustainability: Biodegradable &amp; eco-friendly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•Scale: 50,000 units @ 0.015 kg per unit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•Process: Natural fiber spinning/braiding (primary, continuous)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38B6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32361" y="8491112"/>
            <a:ext cx="9388615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10BB8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Manufacturing Energy:</a:t>
            </a:r>
            <a:r>
              <a:rPr lang="en-US" sz="3399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 Hemp production at 8.1e+03 MJ total (3.2% of product energy) vs. Nylon at significantly higher impact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10BB8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62640" y="6843599"/>
            <a:ext cx="510351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Batch Size: 50,000 Units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9093" y="7660340"/>
            <a:ext cx="390405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Thickness: 1 - 3mm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74262" y="8491112"/>
            <a:ext cx="41374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Tolerance: ±0.5 mm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320436">
            <a:off x="-4605324" y="4677674"/>
            <a:ext cx="10268190" cy="931653"/>
            <a:chOff x="0" y="0"/>
            <a:chExt cx="2239564" cy="203200"/>
          </a:xfrm>
        </p:grpSpPr>
        <p:sp>
          <p:nvSpPr>
            <p:cNvPr id="3" name="Freeform 3"/>
            <p:cNvSpPr/>
            <p:nvPr/>
          </p:nvSpPr>
          <p:spPr>
            <a:xfrm>
              <a:off x="0" y="743"/>
              <a:ext cx="2239564" cy="201713"/>
            </a:xfrm>
            <a:custGeom>
              <a:avLst/>
              <a:gdLst/>
              <a:ahLst/>
              <a:cxnLst/>
              <a:rect l="l" t="t" r="r" b="b"/>
              <a:pathLst>
                <a:path w="2239564" h="201713">
                  <a:moveTo>
                    <a:pt x="1128233" y="38627"/>
                  </a:moveTo>
                  <a:cubicBezTo>
                    <a:pt x="1504311" y="5607"/>
                    <a:pt x="1871937" y="-27413"/>
                    <a:pt x="2239564" y="36087"/>
                  </a:cubicBezTo>
                  <a:lnTo>
                    <a:pt x="2239564" y="156737"/>
                  </a:lnTo>
                  <a:cubicBezTo>
                    <a:pt x="1859261" y="95777"/>
                    <a:pt x="1478957" y="130067"/>
                    <a:pt x="1111331" y="163087"/>
                  </a:cubicBezTo>
                  <a:cubicBezTo>
                    <a:pt x="735253" y="196107"/>
                    <a:pt x="367627" y="229127"/>
                    <a:pt x="0" y="165627"/>
                  </a:cubicBezTo>
                  <a:lnTo>
                    <a:pt x="0" y="44977"/>
                  </a:lnTo>
                  <a:cubicBezTo>
                    <a:pt x="380303" y="105937"/>
                    <a:pt x="760607" y="71647"/>
                    <a:pt x="1128233" y="38627"/>
                  </a:cubicBez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700"/>
              <a:ext cx="2239564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3569186" y="-1479312"/>
            <a:ext cx="2555764" cy="7636735"/>
            <a:chOff x="0" y="0"/>
            <a:chExt cx="673123" cy="20113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123" cy="2011321"/>
            </a:xfrm>
            <a:custGeom>
              <a:avLst/>
              <a:gdLst/>
              <a:ahLst/>
              <a:cxnLst/>
              <a:rect l="l" t="t" r="r" b="b"/>
              <a:pathLst>
                <a:path w="673123" h="2011321">
                  <a:moveTo>
                    <a:pt x="224496" y="19070"/>
                  </a:moveTo>
                  <a:cubicBezTo>
                    <a:pt x="258893" y="7556"/>
                    <a:pt x="298238" y="0"/>
                    <a:pt x="336743" y="0"/>
                  </a:cubicBezTo>
                  <a:cubicBezTo>
                    <a:pt x="375249" y="0"/>
                    <a:pt x="412302" y="6476"/>
                    <a:pt x="446448" y="17990"/>
                  </a:cubicBezTo>
                  <a:cubicBezTo>
                    <a:pt x="447175" y="18350"/>
                    <a:pt x="447901" y="18350"/>
                    <a:pt x="448627" y="18710"/>
                  </a:cubicBezTo>
                  <a:cubicBezTo>
                    <a:pt x="576859" y="64765"/>
                    <a:pt x="671307" y="186379"/>
                    <a:pt x="673123" y="355125"/>
                  </a:cubicBezTo>
                  <a:lnTo>
                    <a:pt x="673123" y="2011321"/>
                  </a:lnTo>
                  <a:lnTo>
                    <a:pt x="0" y="2011321"/>
                  </a:lnTo>
                  <a:lnTo>
                    <a:pt x="0" y="356354"/>
                  </a:lnTo>
                  <a:cubicBezTo>
                    <a:pt x="1816" y="185660"/>
                    <a:pt x="94811" y="64045"/>
                    <a:pt x="224496" y="19070"/>
                  </a:cubicBezTo>
                  <a:close/>
                </a:path>
              </a:pathLst>
            </a:custGeom>
            <a:solidFill>
              <a:srgbClr val="C7FAE9"/>
            </a:solidFill>
            <a:ln w="38100" cap="sq">
              <a:solidFill>
                <a:srgbClr val="10BB82"/>
              </a:solidFill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8900"/>
              <a:ext cx="673123" cy="192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3569186" y="1502954"/>
            <a:ext cx="2555764" cy="7636735"/>
            <a:chOff x="0" y="0"/>
            <a:chExt cx="673123" cy="20113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123" cy="2011321"/>
            </a:xfrm>
            <a:custGeom>
              <a:avLst/>
              <a:gdLst/>
              <a:ahLst/>
              <a:cxnLst/>
              <a:rect l="l" t="t" r="r" b="b"/>
              <a:pathLst>
                <a:path w="673123" h="2011321">
                  <a:moveTo>
                    <a:pt x="224496" y="19070"/>
                  </a:moveTo>
                  <a:cubicBezTo>
                    <a:pt x="258893" y="7556"/>
                    <a:pt x="298238" y="0"/>
                    <a:pt x="336743" y="0"/>
                  </a:cubicBezTo>
                  <a:cubicBezTo>
                    <a:pt x="375249" y="0"/>
                    <a:pt x="412302" y="6476"/>
                    <a:pt x="446448" y="17990"/>
                  </a:cubicBezTo>
                  <a:cubicBezTo>
                    <a:pt x="447175" y="18350"/>
                    <a:pt x="447901" y="18350"/>
                    <a:pt x="448627" y="18710"/>
                  </a:cubicBezTo>
                  <a:cubicBezTo>
                    <a:pt x="576859" y="64765"/>
                    <a:pt x="671307" y="186379"/>
                    <a:pt x="673123" y="355125"/>
                  </a:cubicBezTo>
                  <a:lnTo>
                    <a:pt x="673123" y="2011321"/>
                  </a:lnTo>
                  <a:lnTo>
                    <a:pt x="0" y="2011321"/>
                  </a:lnTo>
                  <a:lnTo>
                    <a:pt x="0" y="356354"/>
                  </a:lnTo>
                  <a:cubicBezTo>
                    <a:pt x="1816" y="185660"/>
                    <a:pt x="94811" y="64045"/>
                    <a:pt x="224496" y="19070"/>
                  </a:cubicBezTo>
                  <a:close/>
                </a:path>
              </a:pathLst>
            </a:custGeom>
            <a:solidFill>
              <a:srgbClr val="FFC2C2"/>
            </a:solidFill>
            <a:ln w="38100" cap="sq">
              <a:solidFill>
                <a:srgbClr val="FF3A3A"/>
              </a:solidFill>
              <a:prstDash val="sysDot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8900"/>
              <a:ext cx="673123" cy="1922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7027829"/>
            <a:ext cx="7781347" cy="2438107"/>
          </a:xfrm>
          <a:custGeom>
            <a:avLst/>
            <a:gdLst/>
            <a:ahLst/>
            <a:cxnLst/>
            <a:rect l="l" t="t" r="r" b="b"/>
            <a:pathLst>
              <a:path w="7781347" h="2438107">
                <a:moveTo>
                  <a:pt x="0" y="0"/>
                </a:moveTo>
                <a:lnTo>
                  <a:pt x="7781347" y="0"/>
                </a:lnTo>
                <a:lnTo>
                  <a:pt x="7781347" y="2438107"/>
                </a:lnTo>
                <a:lnTo>
                  <a:pt x="0" y="2438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4955" b="-9241"/>
            </a:stretch>
          </a:blipFill>
          <a:ln cap="rnd">
            <a:noFill/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8867197" y="1146677"/>
            <a:ext cx="4373033" cy="3104103"/>
          </a:xfrm>
          <a:custGeom>
            <a:avLst/>
            <a:gdLst/>
            <a:ahLst/>
            <a:cxnLst/>
            <a:rect l="l" t="t" r="r" b="b"/>
            <a:pathLst>
              <a:path w="4373033" h="3104103">
                <a:moveTo>
                  <a:pt x="0" y="0"/>
                </a:moveTo>
                <a:lnTo>
                  <a:pt x="4373033" y="0"/>
                </a:lnTo>
                <a:lnTo>
                  <a:pt x="4373033" y="3104103"/>
                </a:lnTo>
                <a:lnTo>
                  <a:pt x="0" y="3104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3440255" y="1141074"/>
            <a:ext cx="4380926" cy="3109705"/>
          </a:xfrm>
          <a:custGeom>
            <a:avLst/>
            <a:gdLst/>
            <a:ahLst/>
            <a:cxnLst/>
            <a:rect l="l" t="t" r="r" b="b"/>
            <a:pathLst>
              <a:path w="4380926" h="3109705">
                <a:moveTo>
                  <a:pt x="0" y="0"/>
                </a:moveTo>
                <a:lnTo>
                  <a:pt x="4380925" y="0"/>
                </a:lnTo>
                <a:lnTo>
                  <a:pt x="4380925" y="3109706"/>
                </a:lnTo>
                <a:lnTo>
                  <a:pt x="0" y="3109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1095567" y="4420312"/>
            <a:ext cx="4373033" cy="3372702"/>
          </a:xfrm>
          <a:custGeom>
            <a:avLst/>
            <a:gdLst/>
            <a:ahLst/>
            <a:cxnLst/>
            <a:rect l="l" t="t" r="r" b="b"/>
            <a:pathLst>
              <a:path w="4373033" h="3372702">
                <a:moveTo>
                  <a:pt x="0" y="0"/>
                </a:moveTo>
                <a:lnTo>
                  <a:pt x="4373033" y="0"/>
                </a:lnTo>
                <a:lnTo>
                  <a:pt x="4373033" y="3372701"/>
                </a:lnTo>
                <a:lnTo>
                  <a:pt x="0" y="3372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144000" y="7964463"/>
            <a:ext cx="8677181" cy="2043152"/>
          </a:xfrm>
          <a:custGeom>
            <a:avLst/>
            <a:gdLst/>
            <a:ahLst/>
            <a:cxnLst/>
            <a:rect l="l" t="t" r="r" b="b"/>
            <a:pathLst>
              <a:path w="6119587" h="2043152">
                <a:moveTo>
                  <a:pt x="0" y="0"/>
                </a:moveTo>
                <a:lnTo>
                  <a:pt x="6119586" y="0"/>
                </a:lnTo>
                <a:lnTo>
                  <a:pt x="6119586" y="2043153"/>
                </a:lnTo>
                <a:lnTo>
                  <a:pt x="0" y="20431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13286" y="-133350"/>
            <a:ext cx="16498797" cy="119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60"/>
              </a:lnSpc>
            </a:pPr>
            <a:r>
              <a:rPr lang="en-US" sz="6971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LCA Results: New vs. Original Design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3311" y="1074399"/>
            <a:ext cx="5303689" cy="619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 dirty="0">
                <a:solidFill>
                  <a:srgbClr val="10BB8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✓ Improvement Areas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3311" y="1723368"/>
            <a:ext cx="7636735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•String: Nylon → Hemp (biodegradable)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•Reduced synthetic fiber end-of-life impact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10BB82"/>
                </a:solidFill>
                <a:latin typeface="Canva Sans"/>
                <a:ea typeface="Canva Sans"/>
                <a:cs typeface="Canva Sans"/>
                <a:sym typeface="Canva Sans"/>
              </a:rPr>
              <a:t>•Maintained cost &amp; performance targets</a:t>
            </a:r>
          </a:p>
          <a:p>
            <a:pPr algn="l">
              <a:lnSpc>
                <a:spcPts val="3780"/>
              </a:lnSpc>
            </a:pPr>
            <a:endParaRPr lang="en-US" sz="2700">
              <a:solidFill>
                <a:srgbClr val="10BB8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73311" y="4072015"/>
            <a:ext cx="6251278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>
                <a:solidFill>
                  <a:srgbClr val="FF3A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⚠ Maintained Components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3311" y="4705634"/>
            <a:ext cx="5623620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3A3A"/>
                </a:solidFill>
                <a:latin typeface="Canva Sans"/>
                <a:ea typeface="Canva Sans"/>
                <a:cs typeface="Canva Sans"/>
                <a:sym typeface="Canva Sans"/>
              </a:rPr>
              <a:t>•Wand: ABS plastic (96.8% energy)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3A3A"/>
                </a:solidFill>
                <a:latin typeface="Canva Sans"/>
                <a:ea typeface="Canva Sans"/>
                <a:cs typeface="Canva Sans"/>
                <a:sym typeface="Canva Sans"/>
              </a:rPr>
              <a:t>•Downcycling end-of-life (80%)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3A3A"/>
                </a:solidFill>
                <a:latin typeface="Canva Sans"/>
                <a:ea typeface="Canva Sans"/>
                <a:cs typeface="Canva Sans"/>
                <a:sym typeface="Canva Sans"/>
              </a:rPr>
              <a:t>•Total mass: 0.085 kg per unit</a:t>
            </a:r>
          </a:p>
          <a:p>
            <a:pPr algn="l">
              <a:lnSpc>
                <a:spcPts val="3780"/>
              </a:lnSpc>
            </a:pPr>
            <a:endParaRPr lang="en-US" sz="2700">
              <a:solidFill>
                <a:srgbClr val="FF3A3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73311" y="7065929"/>
            <a:ext cx="7492124" cy="284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Outcome:</a:t>
            </a:r>
            <a:r>
              <a:rPr lang="en-US" sz="2700">
                <a:solidFill>
                  <a:srgbClr val="38B6FF"/>
                </a:solidFill>
                <a:latin typeface="Canva Sans"/>
                <a:ea typeface="Canva Sans"/>
                <a:cs typeface="Canva Sans"/>
                <a:sym typeface="Canva Sans"/>
              </a:rPr>
              <a:t> 3.2% energy reduction via material substitution while prioritizing biodegradability in end-of-life phase. Further optimization possible by transitioning wand to bio-based polymer (Phase 2).</a:t>
            </a:r>
          </a:p>
          <a:p>
            <a:pPr algn="l">
              <a:lnSpc>
                <a:spcPts val="3780"/>
              </a:lnSpc>
            </a:pPr>
            <a:endParaRPr lang="en-US" sz="2700">
              <a:solidFill>
                <a:srgbClr val="38B6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242</Words>
  <Application>Microsoft Office PowerPoint</Application>
  <PresentationFormat>Custom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Canva Sans</vt:lpstr>
      <vt:lpstr>Raleway</vt:lpstr>
      <vt:lpstr>Canva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 Teaser Wand LCA</dc:title>
  <cp:lastModifiedBy>Stephen Jacob Hussaini</cp:lastModifiedBy>
  <cp:revision>3</cp:revision>
  <dcterms:created xsi:type="dcterms:W3CDTF">2006-08-16T00:00:00Z</dcterms:created>
  <dcterms:modified xsi:type="dcterms:W3CDTF">2025-12-04T16:16:24Z</dcterms:modified>
  <dc:identifier>DAG6iSa0Zro</dc:identifier>
</cp:coreProperties>
</file>